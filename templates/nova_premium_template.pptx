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020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020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B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5A5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Recruitment Media Plan</a:t>
            </a:r>
          </a:p>
          <a:p>
            <a:r>
              <a:rPr sz="1800">
                <a:solidFill>
                  <a:srgbClr val="6BB3CD"/>
                </a:solidFill>
                <a:latin typeface="Arial"/>
              </a:rPr>
              <a:t>Strategic Channel Allocation &amp; Market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1717A"/>
                </a:solidFill>
                <a:latin typeface="Arial"/>
              </a:rPr>
              <a:t>{client_name} | {industry} | {date}</a:t>
            </a:r>
          </a:p>
        </p:txBody>
      </p:sp>
      <p:sp>
        <p:nvSpPr>
          <p:cNvPr id="6" name="Rounded Rectangle 5"/>
          <p:cNvSpPr/>
          <p:nvPr/>
        </p:nvSpPr>
        <p:spPr>
          <a:xfrm rot="900000">
            <a:off x="9601200" y="914400"/>
            <a:ext cx="2286000" cy="2286000"/>
          </a:xfrm>
          <a:prstGeom prst="roundRect">
            <a:avLst/>
          </a:prstGeom>
          <a:solidFill>
            <a:srgbClr val="5A54BD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1500000">
            <a:off x="9875520" y="3200400"/>
            <a:ext cx="1645920" cy="1645920"/>
          </a:xfrm>
          <a:prstGeom prst="roundRect">
            <a:avLst/>
          </a:prstGeom>
          <a:solidFill>
            <a:srgbClr val="6BB3C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2100000">
            <a:off x="10149840" y="5029200"/>
            <a:ext cx="1097280" cy="1097280"/>
          </a:xfrm>
          <a:prstGeom prst="roundRect">
            <a:avLst/>
          </a:prstGeom>
          <a:solidFill>
            <a:srgbClr val="DDDBFF">
              <a:lumMod val="55000"/>
              <a:lumOff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81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717A"/>
                </a:solidFill>
                <a:latin typeface="Arial"/>
              </a:rPr>
              <a:t>Powered by Nova AI Suite | Joveo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B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B3CD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3200400" cy="164592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5A54BD"/>
                </a:solidFill>
                <a:latin typeface="Arial"/>
              </a:rPr>
              <a:t>1,365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1717A"/>
                </a:solidFill>
                <a:latin typeface="Arial"/>
              </a:rPr>
              <a:t>Projected Hires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14400"/>
            <a:ext cx="3200400" cy="164592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972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7AE60"/>
                </a:solidFill>
                <a:latin typeface="Arial"/>
              </a:rPr>
              <a:t>$275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1717A"/>
                </a:solidFill>
                <a:latin typeface="Arial"/>
              </a:rPr>
              <a:t>Cost per Hire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914400"/>
            <a:ext cx="3200400" cy="164592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972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BB3CD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1717A"/>
                </a:solidFill>
                <a:latin typeface="Arial"/>
              </a:rPr>
              <a:t>Channels Active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90672"/>
            <a:ext cx="137160" cy="137160"/>
          </a:xfrm>
          <a:prstGeom prst="ellipse">
            <a:avLst/>
          </a:prstGeom>
          <a:solidFill>
            <a:srgbClr val="5A5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Situation</a:t>
            </a:r>
          </a:p>
          <a:p>
            <a:r>
              <a:rPr sz="1200">
                <a:solidFill>
                  <a:srgbClr val="71717A"/>
                </a:solidFill>
                <a:latin typeface="Arial"/>
              </a:rPr>
              <a:t>Market context and current state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187952"/>
            <a:ext cx="137160" cy="1371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Complication</a:t>
            </a:r>
          </a:p>
          <a:p>
            <a:r>
              <a:rPr sz="1200">
                <a:solidFill>
                  <a:srgbClr val="71717A"/>
                </a:solidFill>
                <a:latin typeface="Arial"/>
              </a:rPr>
              <a:t>Challenges and competitive pressure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85231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79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Resolution</a:t>
            </a:r>
          </a:p>
          <a:p>
            <a:r>
              <a:rPr sz="1200">
                <a:solidFill>
                  <a:srgbClr val="71717A"/>
                </a:solidFill>
                <a:latin typeface="Arial"/>
              </a:rPr>
              <a:t>Strategic approach and expected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1717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5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B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Channel Strategy</a:t>
            </a:r>
          </a:p>
          <a:p>
            <a:r>
              <a:rPr sz="1400">
                <a:solidFill>
                  <a:srgbClr val="BBB8F0"/>
                </a:solidFill>
                <a:latin typeface="Arial"/>
              </a:rPr>
              <a:t>Optimized allocation across programmatic, social, and direct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B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B3CD"/>
                </a:solidFill>
                <a:latin typeface="Arial"/>
              </a:rPr>
              <a:t>CHANNEL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Budget Distribution by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5A5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Programmatic DSP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A54BD"/>
                </a:solidFill>
                <a:latin typeface="Arial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$131,250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Primary volume 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6BB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Global Job 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1031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BB3CD"/>
                </a:solidFill>
                <a:latin typeface="Arial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$93,750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Indeed, LinkedIn, Glassdoor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Social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7AE60"/>
                </a:solidFill>
                <a:latin typeface="Arial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$56,250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346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Meta, TikTok, Instagram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Regional 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39C12"/>
                </a:solidFill>
                <a:latin typeface="Arial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$37,500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Local market penetration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02336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D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Employer 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6634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DDBFF"/>
                </a:solidFill>
                <a:latin typeface="Arial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$37,500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53949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EVP + careers page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4023360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Niche 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6634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8E44AD"/>
                </a:solidFill>
                <a:latin typeface="Arial"/>
              </a:rPr>
              <a:t>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846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1717A"/>
                </a:solidFill>
                <a:latin typeface="Arial"/>
              </a:rPr>
              <a:t>$18,750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949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Arial"/>
              </a:rPr>
              <a:t>Industry-specific targeting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