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embeddedFontLst>
    <p:embeddedFont>
      <p:font typeface="Poppins"/>
      <p:regular r:id="rIdFont1"/>
      <p:bold r:id="rId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4952" cy="182880"/>
          </a:xfrm>
          <a:prstGeom prst="rect">
            <a:avLst/>
          </a:prstGeom>
          <a:solidFill>
            <a:srgbClr val="868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60152" y="182880"/>
            <a:ext cx="1828800" cy="118872"/>
          </a:xfrm>
          <a:prstGeom prst="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8680D6"/>
                </a:solidFill>
                <a:latin typeface="Poppins"/>
              </a:rPr>
              <a:t>joveo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5156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Poppins"/>
              </a:rPr>
              <a:t>Media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743200"/>
            <a:ext cx="36576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FFFFFF"/>
                </a:solidFill>
                <a:latin typeface="Poppins"/>
              </a:rPr>
              <a:t>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182112"/>
            <a:ext cx="10789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A8D8EA"/>
                </a:solidFill>
                <a:latin typeface="Poppins"/>
              </a:rPr>
              <a:t>Uber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41148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8D8EA"/>
                </a:solidFill>
                <a:latin typeface="Poppins"/>
              </a:rPr>
              <a:t>Hospitality &amp; Travel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138928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B5CE"/>
                </a:solidFill>
                <a:latin typeface="Poppins"/>
              </a:rPr>
              <a:t>Created by Shubham Singh Chandel  •  Powered by Joveo's Global Supply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522976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C96A8"/>
                </a:solidFill>
                <a:latin typeface="Poppins"/>
              </a:rPr>
              <a:t>July 23,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5852160"/>
            <a:ext cx="39319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C96A8"/>
                </a:solidFill>
                <a:latin typeface="Poppins"/>
              </a:rPr>
              <a:t>High-Performance, AI-Led
Recruitment Marketing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11696"/>
            <a:ext cx="12191695" cy="73152"/>
          </a:xfrm>
          <a:prstGeom prst="rect">
            <a:avLst/>
          </a:prstGeom>
          <a:solidFill>
            <a:srgbClr val="868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68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371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54BE"/>
                </a:solidFill>
                <a:latin typeface="Poppins"/>
              </a:rPr>
              <a:t>joveo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11480"/>
            <a:ext cx="110185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02058"/>
                </a:solidFill>
                <a:latin typeface="Poppins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9052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2058"/>
                </a:solidFill>
                <a:latin typeface="Poppins"/>
              </a:rPr>
              <a:t>Nova AI Suite's programmatic strategy targets commercial cab driver across 6 locations to optimize Uber's recruitment spend in Hospitality &amp; Travel in a hot talent market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36118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54864" cy="3200400"/>
          </a:xfrm>
          <a:prstGeom prst="rect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A54BE"/>
                </a:solidFill>
                <a:latin typeface="Poppins"/>
              </a:rPr>
              <a:t>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338328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143"/>
              </a:spcBef>
              <a:spcAft>
                <a:spcPts val="431"/>
              </a:spcAft>
            </a:pPr>
            <a:r>
              <a:rPr sz="800" b="1" i="0">
                <a:solidFill>
                  <a:srgbClr val="202058"/>
                </a:solidFill>
                <a:latin typeface="Poppins"/>
              </a:rPr>
              <a:t>Industry: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Hospitality &amp; Travel</a:t>
            </a:r>
          </a:p>
          <a:p>
            <a:pPr algn="l">
              <a:spcBef>
                <a:spcPts val="143"/>
              </a:spcBef>
              <a:spcAft>
                <a:spcPts val="431"/>
              </a:spcAft>
            </a:pPr>
            <a:r>
              <a:rPr sz="800" b="1" i="0">
                <a:solidFill>
                  <a:srgbClr val="202058"/>
                </a:solidFill>
                <a:latin typeface="Poppins"/>
              </a:rPr>
              <a:t>Locations: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6 markets</a:t>
            </a:r>
          </a:p>
          <a:p>
            <a:pPr algn="l">
              <a:spcBef>
                <a:spcPts val="143"/>
              </a:spcBef>
              <a:spcAft>
                <a:spcPts val="431"/>
              </a:spcAft>
            </a:pPr>
            <a:r>
              <a:rPr sz="800" b="1" i="0">
                <a:solidFill>
                  <a:srgbClr val="202058"/>
                </a:solidFill>
                <a:latin typeface="Poppins"/>
              </a:rPr>
              <a:t>Target Roles: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commercial cab driver</a:t>
            </a:r>
          </a:p>
          <a:p>
            <a:pPr algn="l">
              <a:spcBef>
                <a:spcPts val="143"/>
              </a:spcBef>
              <a:spcAft>
                <a:spcPts val="431"/>
              </a:spcAft>
            </a:pPr>
            <a:r>
              <a:rPr sz="800" b="1" i="0">
                <a:solidFill>
                  <a:srgbClr val="202058"/>
                </a:solidFill>
                <a:latin typeface="Poppins"/>
              </a:rPr>
              <a:t>Work Model: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Hybrid</a:t>
            </a:r>
          </a:p>
          <a:p>
            <a:pPr algn="l">
              <a:spcBef>
                <a:spcPts val="143"/>
              </a:spcBef>
              <a:spcAft>
                <a:spcPts val="431"/>
              </a:spcAft>
            </a:pPr>
            <a:r>
              <a:rPr sz="800" b="1" i="0">
                <a:solidFill>
                  <a:srgbClr val="202058"/>
                </a:solidFill>
                <a:latin typeface="Poppins"/>
              </a:rPr>
              <a:t>Budget: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£2M</a:t>
            </a:r>
          </a:p>
          <a:p>
            <a:pPr algn="l">
              <a:spcBef>
                <a:spcPts val="143"/>
              </a:spcBef>
              <a:spcAft>
                <a:spcPts val="431"/>
              </a:spcAft>
            </a:pPr>
            <a:r>
              <a:rPr sz="800" b="1" i="0">
                <a:solidFill>
                  <a:srgbClr val="202058"/>
                </a:solidFill>
                <a:latin typeface="Poppins"/>
              </a:rPr>
              <a:t>Market Temp.: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Hot (High demand)</a:t>
            </a:r>
          </a:p>
          <a:p>
            <a:pPr algn="l">
              <a:spcBef>
                <a:spcPts val="143"/>
              </a:spcBef>
              <a:spcAft>
                <a:spcPts val="431"/>
              </a:spcAft>
            </a:pPr>
            <a:r>
              <a:rPr sz="800" b="1" i="0">
                <a:solidFill>
                  <a:srgbClr val="202058"/>
                </a:solidFill>
                <a:latin typeface="Poppins"/>
              </a:rPr>
              <a:t>Talent Profile: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Blue Collar dominant (100%)</a:t>
            </a:r>
          </a:p>
          <a:p>
            <a:pPr algn="l">
              <a:spcBef>
                <a:spcPts val="143"/>
              </a:spcBef>
              <a:spcAft>
                <a:spcPts val="431"/>
              </a:spcAft>
            </a:pPr>
            <a:r>
              <a:rPr sz="800" b="1" i="0">
                <a:solidFill>
                  <a:srgbClr val="202058"/>
                </a:solidFill>
                <a:latin typeface="Poppins"/>
              </a:rPr>
              <a:t>Salary Range: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£52K median (£38K-£78K) - commercial cab driver</a:t>
            </a:r>
          </a:p>
          <a:p>
            <a:pPr algn="l">
              <a:spcBef>
                <a:spcPts val="143"/>
              </a:spcBef>
              <a:spcAft>
                <a:spcPts val="431"/>
              </a:spcAft>
            </a:pPr>
            <a:r>
              <a:rPr sz="800" b="1" i="0">
                <a:solidFill>
                  <a:srgbClr val="202058"/>
                </a:solidFill>
                <a:latin typeface="Poppins"/>
              </a:rPr>
              <a:t>CPC Trend: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Stable Volatile (+53.2% MoM in July 2025 per Recruitics)</a:t>
            </a:r>
          </a:p>
          <a:p>
            <a:pPr algn="l">
              <a:spcBef>
                <a:spcPts val="143"/>
              </a:spcBef>
              <a:spcAft>
                <a:spcPts val="431"/>
              </a:spcAft>
            </a:pPr>
            <a:r>
              <a:rPr sz="800" b="1" i="0">
                <a:solidFill>
                  <a:srgbClr val="202058"/>
                </a:solidFill>
                <a:latin typeface="Poppins"/>
              </a:rPr>
              <a:t>Apply Rate: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4-6% (above average - strength)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08760"/>
            <a:ext cx="36118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08760"/>
            <a:ext cx="54864" cy="3200400"/>
          </a:xfrm>
          <a:prstGeom prst="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8191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B5CE"/>
                </a:solidFill>
                <a:latin typeface="Poppins"/>
              </a:rPr>
              <a:t>COMPLICATION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920240"/>
            <a:ext cx="338328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 b="0" i="0">
                <a:solidFill>
                  <a:srgbClr val="6BB5CE"/>
                </a:solidFill>
                <a:latin typeface="Poppins"/>
              </a:rPr>
              <a:t>▸  </a:t>
            </a:r>
            <a:r>
              <a:rPr sz="1000" b="0" i="0">
                <a:solidFill>
                  <a:srgbClr val="202058"/>
                </a:solidFill>
                <a:latin typeface="Poppins"/>
              </a:rPr>
              <a:t>Hospitality CPA surging as travel demand outpaces labor supply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 b="0" i="0">
                <a:solidFill>
                  <a:srgbClr val="6BB5CE"/>
                </a:solidFill>
                <a:latin typeface="Poppins"/>
              </a:rPr>
              <a:t>▸  </a:t>
            </a:r>
            <a:r>
              <a:rPr sz="1000" b="0" i="0">
                <a:solidFill>
                  <a:srgbClr val="202058"/>
                </a:solidFill>
                <a:latin typeface="Poppins"/>
              </a:rPr>
              <a:t>Extreme seasonal demand swings in Q2/Q4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 b="0" i="0">
                <a:solidFill>
                  <a:srgbClr val="6BB5CE"/>
                </a:solidFill>
                <a:latin typeface="Poppins"/>
              </a:rPr>
              <a:t>▸  </a:t>
            </a:r>
            <a:r>
              <a:rPr sz="1000" b="0" i="0">
                <a:solidFill>
                  <a:srgbClr val="202058"/>
                </a:solidFill>
                <a:latin typeface="Poppins"/>
              </a:rPr>
              <a:t>High turnover-driven churn exceeds 73%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000" b="0" i="0">
                <a:solidFill>
                  <a:srgbClr val="6BB5CE"/>
                </a:solidFill>
                <a:latin typeface="Poppins"/>
              </a:rPr>
              <a:t>▸  </a:t>
            </a:r>
            <a:r>
              <a:rPr sz="1000" b="0" i="0">
                <a:solidFill>
                  <a:srgbClr val="202058"/>
                </a:solidFill>
                <a:latin typeface="Poppins"/>
              </a:rPr>
              <a:t>Hourly wage competition from adjacent industries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508760"/>
            <a:ext cx="36118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508760"/>
            <a:ext cx="54864" cy="3200400"/>
          </a:xfrm>
          <a:prstGeom prst="rect">
            <a:avLst/>
          </a:prstGeom>
          <a:solidFill>
            <a:srgbClr val="338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581912"/>
            <a:ext cx="3383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8721"/>
                </a:solidFill>
                <a:latin typeface="Poppins"/>
              </a:rPr>
              <a:t>RESOLUTION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920240"/>
            <a:ext cx="338328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87"/>
              </a:spcAft>
            </a:pPr>
            <a:r>
              <a:rPr sz="800" b="1" i="0">
                <a:solidFill>
                  <a:srgbClr val="338721"/>
                </a:solidFill>
                <a:latin typeface="Poppins"/>
              </a:rPr>
              <a:t>MARKET THESIS</a:t>
            </a:r>
          </a:p>
          <a:p>
            <a:pPr algn="l">
              <a:spcBef>
                <a:spcPts val="71"/>
              </a:spcBef>
              <a:spcAft>
                <a:spcPts val="431"/>
              </a:spcAft>
            </a:pPr>
            <a:r>
              <a:rPr sz="800" b="0" i="0">
                <a:solidFill>
                  <a:srgbClr val="202058"/>
                </a:solidFill>
                <a:latin typeface="Poppins"/>
              </a:rPr>
              <a:t>This plan projects 1230 hires at $1,626/hire in a high-demand market via 8-channel programmatic strategy.</a:t>
            </a:r>
          </a:p>
          <a:p>
            <a:pPr algn="l">
              <a:spcBef>
                <a:spcPts val="143"/>
              </a:spcBef>
              <a:spcAft>
                <a:spcPts val="143"/>
              </a:spcAft>
            </a:pPr>
            <a:r>
              <a:rPr sz="800" b="1" i="0">
                <a:solidFill>
                  <a:srgbClr val="202058"/>
                </a:solidFill>
                <a:latin typeface="Poppins"/>
              </a:rPr>
              <a:t>Nova AI Strategy:</a:t>
            </a:r>
          </a:p>
          <a:p>
            <a:pPr>
              <a:spcBef>
                <a:spcPts val="71"/>
              </a:spcBef>
              <a:spcAft>
                <a:spcPts val="215"/>
              </a:spcAft>
            </a:pPr>
            <a:r>
              <a:rPr sz="800" b="0" i="0">
                <a:solidFill>
                  <a:srgbClr val="338721"/>
                </a:solidFill>
                <a:latin typeface="Poppins"/>
              </a:rPr>
              <a:t>✓  </a:t>
            </a:r>
            <a:r>
              <a:rPr sz="800" b="0" i="0">
                <a:solidFill>
                  <a:srgbClr val="202058"/>
                </a:solidFill>
                <a:latin typeface="Poppins"/>
              </a:rPr>
              <a:t>Programmatic DSP</a:t>
            </a:r>
          </a:p>
          <a:p>
            <a:pPr>
              <a:spcBef>
                <a:spcPts val="71"/>
              </a:spcBef>
              <a:spcAft>
                <a:spcPts val="215"/>
              </a:spcAft>
            </a:pPr>
            <a:r>
              <a:rPr sz="800" b="0" i="0">
                <a:solidFill>
                  <a:srgbClr val="338721"/>
                </a:solidFill>
                <a:latin typeface="Poppins"/>
              </a:rPr>
              <a:t>✓  </a:t>
            </a:r>
            <a:r>
              <a:rPr sz="800" b="0" i="0">
                <a:solidFill>
                  <a:srgbClr val="202058"/>
                </a:solidFill>
                <a:latin typeface="Poppins"/>
              </a:rPr>
              <a:t>Global Job Boards</a:t>
            </a:r>
          </a:p>
          <a:p>
            <a:pPr>
              <a:spcBef>
                <a:spcPts val="71"/>
              </a:spcBef>
              <a:spcAft>
                <a:spcPts val="215"/>
              </a:spcAft>
            </a:pPr>
            <a:r>
              <a:rPr sz="800" b="0" i="0">
                <a:solidFill>
                  <a:srgbClr val="338721"/>
                </a:solidFill>
                <a:latin typeface="Poppins"/>
              </a:rPr>
              <a:t>✓  </a:t>
            </a:r>
            <a:r>
              <a:rPr sz="800" b="0" i="0">
                <a:solidFill>
                  <a:srgbClr val="202058"/>
                </a:solidFill>
                <a:latin typeface="Poppins"/>
              </a:rPr>
              <a:t>Niche / Industry Boards</a:t>
            </a:r>
          </a:p>
          <a:p>
            <a:pPr>
              <a:spcBef>
                <a:spcPts val="71"/>
              </a:spcBef>
              <a:spcAft>
                <a:spcPts val="215"/>
              </a:spcAft>
            </a:pPr>
            <a:r>
              <a:rPr sz="800" b="0" i="0">
                <a:solidFill>
                  <a:srgbClr val="338721"/>
                </a:solidFill>
                <a:latin typeface="Poppins"/>
              </a:rPr>
              <a:t>✓  </a:t>
            </a:r>
            <a:r>
              <a:rPr sz="800" b="0" i="0">
                <a:solidFill>
                  <a:srgbClr val="202058"/>
                </a:solidFill>
                <a:latin typeface="Poppins"/>
              </a:rPr>
              <a:t>Social Media</a:t>
            </a:r>
          </a:p>
          <a:p>
            <a:pPr>
              <a:spcBef>
                <a:spcPts val="71"/>
              </a:spcBef>
              <a:spcAft>
                <a:spcPts val="215"/>
              </a:spcAft>
            </a:pPr>
            <a:r>
              <a:rPr sz="800" b="0" i="0">
                <a:solidFill>
                  <a:srgbClr val="338721"/>
                </a:solidFill>
                <a:latin typeface="Poppins"/>
              </a:rPr>
              <a:t>✓  </a:t>
            </a:r>
            <a:r>
              <a:rPr sz="800" b="0" i="0">
                <a:solidFill>
                  <a:srgbClr val="202058"/>
                </a:solidFill>
                <a:latin typeface="Poppins"/>
              </a:rPr>
              <a:t>Regional Boards</a:t>
            </a:r>
          </a:p>
          <a:p>
            <a:pPr>
              <a:spcBef>
                <a:spcPts val="71"/>
              </a:spcBef>
              <a:spcAft>
                <a:spcPts val="215"/>
              </a:spcAft>
            </a:pPr>
            <a:r>
              <a:rPr sz="800" b="0" i="0">
                <a:solidFill>
                  <a:srgbClr val="338721"/>
                </a:solidFill>
                <a:latin typeface="Poppins"/>
              </a:rPr>
              <a:t>✓  </a:t>
            </a:r>
            <a:r>
              <a:rPr sz="800" b="0" i="0">
                <a:solidFill>
                  <a:srgbClr val="202058"/>
                </a:solidFill>
                <a:latin typeface="Poppins"/>
              </a:rPr>
              <a:t>Employer Branding</a:t>
            </a:r>
          </a:p>
          <a:p>
            <a:pPr>
              <a:spcBef>
                <a:spcPts val="71"/>
              </a:spcBef>
              <a:spcAft>
                <a:spcPts val="215"/>
              </a:spcAft>
            </a:pPr>
            <a:r>
              <a:rPr sz="800" b="0" i="0">
                <a:solidFill>
                  <a:srgbClr val="338721"/>
                </a:solidFill>
                <a:latin typeface="Poppins"/>
              </a:rPr>
              <a:t>✓  </a:t>
            </a:r>
            <a:r>
              <a:rPr sz="800" b="0" i="0">
                <a:solidFill>
                  <a:srgbClr val="202058"/>
                </a:solidFill>
                <a:latin typeface="Poppins"/>
              </a:rPr>
              <a:t>APAC Regional</a:t>
            </a:r>
          </a:p>
          <a:p>
            <a:pPr>
              <a:spcBef>
                <a:spcPts val="71"/>
              </a:spcBef>
              <a:spcAft>
                <a:spcPts val="215"/>
              </a:spcAft>
            </a:pPr>
            <a:r>
              <a:rPr sz="800" b="0" i="0">
                <a:solidFill>
                  <a:srgbClr val="338721"/>
                </a:solidFill>
                <a:latin typeface="Poppins"/>
              </a:rPr>
              <a:t>✓  </a:t>
            </a:r>
            <a:r>
              <a:rPr sz="800" b="0" i="0">
                <a:solidFill>
                  <a:srgbClr val="202058"/>
                </a:solidFill>
                <a:latin typeface="Poppins"/>
              </a:rPr>
              <a:t>EMEA Regional</a:t>
            </a:r>
          </a:p>
          <a:p>
            <a:pPr algn="l">
              <a:spcBef>
                <a:spcPts val="71"/>
              </a:spcBef>
              <a:spcAft>
                <a:spcPts val="215"/>
              </a:spcAft>
            </a:pPr>
            <a:r>
              <a:rPr sz="800" b="0" i="0">
                <a:solidFill>
                  <a:srgbClr val="202058"/>
                </a:solidFill>
                <a:latin typeface="Poppins"/>
              </a:rPr>
              <a:t>✓  ML-optimized bidding across 1,238+ publishers</a:t>
            </a:r>
          </a:p>
          <a:p>
            <a:pPr>
              <a:spcBef>
                <a:spcPts val="71"/>
              </a:spcBef>
              <a:spcAft>
                <a:spcPts val="143"/>
              </a:spcAft>
            </a:pPr>
            <a:r>
              <a:rPr sz="800" b="0" i="0">
                <a:solidFill>
                  <a:srgbClr val="5A54BE"/>
                </a:solidFill>
                <a:latin typeface="Poppins"/>
              </a:rPr>
              <a:t>●  </a:t>
            </a:r>
            <a:r>
              <a:rPr sz="800" b="0" i="0">
                <a:solidFill>
                  <a:srgbClr val="202058"/>
                </a:solidFill>
                <a:latin typeface="Poppins"/>
              </a:rPr>
              <a:t>Direct Hiring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92040"/>
            <a:ext cx="11155680" cy="1051560"/>
          </a:xfrm>
          <a:prstGeom prst="rect">
            <a:avLst/>
          </a:prstGeom>
          <a:solidFill>
            <a:srgbClr val="202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892040"/>
            <a:ext cx="11155680" cy="36576"/>
          </a:xfrm>
          <a:prstGeom prst="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01768"/>
            <a:ext cx="29260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6BB5CE"/>
                </a:solidFill>
                <a:latin typeface="Poppins"/>
              </a:rPr>
              <a:t>£2M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50408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96A8"/>
                </a:solidFill>
                <a:latin typeface="Poppins"/>
              </a:rPr>
              <a:t>Campaign Budget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5074920"/>
            <a:ext cx="18288" cy="685800"/>
          </a:xfrm>
          <a:prstGeom prst="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5001768"/>
            <a:ext cx="1517904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oppins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5550408"/>
            <a:ext cx="151790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96A8"/>
                </a:solidFill>
                <a:latin typeface="Poppins"/>
              </a:rPr>
              <a:t>Channels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6984" y="5001768"/>
            <a:ext cx="1517904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86984" y="5550408"/>
            <a:ext cx="151790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96A8"/>
                </a:solidFill>
                <a:latin typeface="Poppins"/>
              </a:rPr>
              <a:t>Locations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5001768"/>
            <a:ext cx="1517904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5550408"/>
            <a:ext cx="151790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96A8"/>
                </a:solidFill>
                <a:latin typeface="Poppins"/>
              </a:rPr>
              <a:t>Target Roles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2792" y="5001768"/>
            <a:ext cx="1517904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oppins"/>
              </a:rPr>
              <a:t>1230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2792" y="5550408"/>
            <a:ext cx="151790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96A8"/>
                </a:solidFill>
                <a:latin typeface="Poppins"/>
              </a:rPr>
              <a:t>Projected Hires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0696" y="5001768"/>
            <a:ext cx="1517904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oppins"/>
              </a:rPr>
              <a:t>£7.10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0696" y="5550408"/>
            <a:ext cx="151790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96A8"/>
                </a:solidFill>
                <a:latin typeface="Poppins"/>
              </a:rPr>
              <a:t>Avg CPA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86984" y="5120640"/>
            <a:ext cx="13716" cy="594360"/>
          </a:xfrm>
          <a:prstGeom prst="rect">
            <a:avLst/>
          </a:prstGeom>
          <a:solidFill>
            <a:srgbClr val="1A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04888" y="5120640"/>
            <a:ext cx="13716" cy="594360"/>
          </a:xfrm>
          <a:prstGeom prst="rect">
            <a:avLst/>
          </a:prstGeom>
          <a:solidFill>
            <a:srgbClr val="1A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22792" y="5120640"/>
            <a:ext cx="13716" cy="594360"/>
          </a:xfrm>
          <a:prstGeom prst="rect">
            <a:avLst/>
          </a:prstGeom>
          <a:solidFill>
            <a:srgbClr val="1A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0696" y="5120640"/>
            <a:ext cx="13716" cy="594360"/>
          </a:xfrm>
          <a:prstGeom prst="rect">
            <a:avLst/>
          </a:prstGeom>
          <a:solidFill>
            <a:srgbClr val="1A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B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56248"/>
            <a:ext cx="4114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July 23,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6556248"/>
            <a:ext cx="6428232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B5CE"/>
                </a:solidFill>
                <a:latin typeface="Poppins"/>
              </a:rPr>
              <a:t>Created by Shubham Singh Chandel  •  Powered by Joveo's Global Supply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68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371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54BE"/>
                </a:solidFill>
                <a:latin typeface="Poppins"/>
              </a:rPr>
              <a:t>joveo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11480"/>
            <a:ext cx="110185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02058"/>
                </a:solidFill>
                <a:latin typeface="Poppins"/>
              </a:rPr>
              <a:t>Our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2058"/>
                </a:solidFill>
                <a:latin typeface="Poppins"/>
              </a:rPr>
              <a:t>Our Methodology — Joveo's 6-step campaign management on the MOJO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1188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3611880" cy="73152"/>
          </a:xfrm>
          <a:prstGeom prst="rect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55064"/>
            <a:ext cx="384048" cy="384048"/>
          </a:xfrm>
          <a:prstGeom prst="ellipse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55064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6" y="1636776"/>
            <a:ext cx="2770632" cy="603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Benchmarking &amp; Market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514600"/>
            <a:ext cx="3282696" cy="10241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Talent supply vs. demand, competitive landscape, and hiring difficulty by role category set the plan baseline.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61188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611880" cy="73152"/>
          </a:xfrm>
          <a:prstGeom prst="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80560" y="1655064"/>
            <a:ext cx="384048" cy="384048"/>
          </a:xfrm>
          <a:prstGeom prst="ellipse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655064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4336" y="1636776"/>
            <a:ext cx="2770632" cy="603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Develop Media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258568"/>
            <a:ext cx="328269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A54BE"/>
                </a:solidFill>
                <a:latin typeface="Poppins"/>
              </a:rPr>
              <a:t>AI MEDIA PLANNER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514600"/>
            <a:ext cx="3282696" cy="10241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Build the budget plan by campaign, role, location and talent profile; reallocate weekly.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1417320"/>
            <a:ext cx="361188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1417320"/>
            <a:ext cx="3611880" cy="73152"/>
          </a:xfrm>
          <a:prstGeom prst="rect">
            <a:avLst/>
          </a:prstGeom>
          <a:solidFill>
            <a:srgbClr val="B76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75320" y="1655064"/>
            <a:ext cx="384048" cy="384048"/>
          </a:xfrm>
          <a:prstGeom prst="ellipse">
            <a:avLst/>
          </a:prstGeom>
          <a:solidFill>
            <a:srgbClr val="B76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655064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9096" y="1636776"/>
            <a:ext cx="2770632" cy="603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Campaign Launch &amp; Publisher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2" y="2258568"/>
            <a:ext cx="328269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A54BE"/>
                </a:solidFill>
                <a:latin typeface="Poppins"/>
              </a:rPr>
              <a:t>AI ADVERTISER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2514600"/>
            <a:ext cx="3282696" cy="10241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Push jobs live across the channel mix; AI shifts bids and budget daily to the best publishers per job.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840480"/>
            <a:ext cx="361188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840480"/>
            <a:ext cx="3611880" cy="73152"/>
          </a:xfrm>
          <a:prstGeom prst="rect">
            <a:avLst/>
          </a:prstGeom>
          <a:solidFill>
            <a:srgbClr val="868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078224"/>
            <a:ext cx="384048" cy="384048"/>
          </a:xfrm>
          <a:prstGeom prst="ellipse">
            <a:avLst/>
          </a:prstGeom>
          <a:solidFill>
            <a:srgbClr val="868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078224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9576" y="4059936"/>
            <a:ext cx="2770632" cy="603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Passive Candidate Outreach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4681728"/>
            <a:ext cx="328269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A54BE"/>
                </a:solidFill>
                <a:latin typeface="Poppins"/>
              </a:rPr>
              <a:t>AI CRM &amp; LANDING PAGES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937760"/>
            <a:ext cx="3282696" cy="10241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Engage passive candidates via databases, email/SMS re-engagement and conversion-optimized landing pages.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840480"/>
            <a:ext cx="361188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3840480"/>
            <a:ext cx="3611880" cy="73152"/>
          </a:xfrm>
          <a:prstGeom prst="rect">
            <a:avLst/>
          </a:prstGeom>
          <a:solidFill>
            <a:srgbClr val="3E8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480560" y="4078224"/>
            <a:ext cx="384048" cy="384048"/>
          </a:xfrm>
          <a:prstGeom prst="ellipse">
            <a:avLst/>
          </a:prstGeom>
          <a:solidFill>
            <a:srgbClr val="3E8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4078224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4059936"/>
            <a:ext cx="2770632" cy="603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Candidate Quality Optimization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2272" y="4681728"/>
            <a:ext cx="328269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A54BE"/>
                </a:solidFill>
                <a:latin typeface="Poppins"/>
              </a:rPr>
              <a:t>AI CHATBOT &amp; AI INTERVIEWER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2272" y="4937760"/>
            <a:ext cx="3282696" cy="10241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Screen and qualify candidates in the apply flow to lift quality.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3840480"/>
            <a:ext cx="361188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92440" y="3840480"/>
            <a:ext cx="3611880" cy="73152"/>
          </a:xfrm>
          <a:prstGeom prst="rect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275320" y="4078224"/>
            <a:ext cx="384048" cy="384048"/>
          </a:xfrm>
          <a:prstGeom prst="ellipse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5320" y="4078224"/>
            <a:ext cx="384048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69096" y="4059936"/>
            <a:ext cx="2770632" cy="6035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Optimize to Down-Funnel Conversions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57032" y="4681728"/>
            <a:ext cx="328269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A54BE"/>
                </a:solidFill>
                <a:latin typeface="Poppins"/>
              </a:rPr>
              <a:t>AI SCREENING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57032" y="4937760"/>
            <a:ext cx="3282696" cy="10241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Optimize toward apply-start → apply-finish → hire, with click-to-hire attribution.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B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6556248"/>
            <a:ext cx="4114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July 23,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7800" y="6556248"/>
            <a:ext cx="6428232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B5CE"/>
                </a:solidFill>
                <a:latin typeface="Poppins"/>
              </a:rPr>
              <a:t>Created by Shubham Singh Chandel  •  Powered by Joveo's Global Supply Team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68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371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54BE"/>
                </a:solidFill>
                <a:latin typeface="Poppins"/>
              </a:rPr>
              <a:t>joveo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11480"/>
            <a:ext cx="110185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02058"/>
                </a:solidFill>
                <a:latin typeface="Poppins"/>
              </a:rPr>
              <a:t>Push Meets Pull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2058"/>
                </a:solidFill>
                <a:latin typeface="Poppins"/>
              </a:rPr>
              <a:t>Push Meets Pull — a dual-engine sourcing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6780"/>
                </a:solidFill>
                <a:latin typeface="Poppins"/>
              </a:rPr>
              <a:t>Joveo combines active outreach (Push) with employer-brand magnetism (Pull).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23210"/>
            <a:ext cx="5486400" cy="2537460"/>
          </a:xfrm>
          <a:prstGeom prst="roundRect">
            <a:avLst/>
          </a:prstGeom>
          <a:solidFill>
            <a:srgbClr val="EC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3188970"/>
            <a:ext cx="4389120" cy="502920"/>
          </a:xfrm>
          <a:prstGeom prst="roundRect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88970"/>
            <a:ext cx="43891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Poppins"/>
              </a:rPr>
              <a:t>Push = Active Outreach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20490"/>
            <a:ext cx="4754880" cy="11658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2058"/>
                </a:solidFill>
                <a:latin typeface="Poppins"/>
              </a:rPr>
              <a:t>Targeted ads, job alerts, social media and email campaigns that proactively push opportunities to candidates based on behavior, job demographics, or intent signals.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77715"/>
            <a:ext cx="4754880" cy="6915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54BE"/>
                </a:solidFill>
                <a:latin typeface="Poppins"/>
              </a:rPr>
              <a:t>This plan: Programmatic (DSP) $561.8K · Global Job Boards $386.2K · Social Media $273.3K · Regional Job Boards $267.6K · APAC Regional $195.6K · EMEA Regional $195.6K · Niche / Industry Boards $60K — $1.9M total (97% of budget)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823210"/>
            <a:ext cx="5486400" cy="2537460"/>
          </a:xfrm>
          <a:prstGeom prst="round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3188970"/>
            <a:ext cx="4389120" cy="502920"/>
          </a:xfrm>
          <a:prstGeom prst="roundRect">
            <a:avLst/>
          </a:prstGeom>
          <a:solidFill>
            <a:srgbClr val="3E8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188970"/>
            <a:ext cx="43891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Poppins"/>
              </a:rPr>
              <a:t>Pull = Employer Brand Magnetism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920490"/>
            <a:ext cx="4754880" cy="11658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02058"/>
                </a:solidFill>
                <a:latin typeface="Poppins"/>
              </a:rPr>
              <a:t>Content, reputation, social media and SEO-optimized career pages that pull candidates in by building long-term interest and trust.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577715"/>
            <a:ext cx="4754880" cy="69151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E8FAB"/>
                </a:solidFill>
                <a:latin typeface="Poppins"/>
              </a:rPr>
              <a:t>This plan: Employer Branding $60K — $60K total (3% of budget)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B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56248"/>
            <a:ext cx="4114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July 23,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6556248"/>
            <a:ext cx="6428232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B5CE"/>
                </a:solidFill>
                <a:latin typeface="Poppins"/>
              </a:rPr>
              <a:t>Created by Shubham Singh Chandel  •  Powered by Joveo's Global Supply Team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68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371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54BE"/>
                </a:solidFill>
                <a:latin typeface="Poppins"/>
              </a:rPr>
              <a:t>joveo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11480"/>
            <a:ext cx="110185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02058"/>
                </a:solidFill>
                <a:latin typeface="Poppins"/>
              </a:rPr>
              <a:t>Channel Strategy &amp;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2058"/>
                </a:solidFill>
                <a:latin typeface="Poppins"/>
              </a:rPr>
              <a:t>8-channel strategy allocates £2M to project 1230 hires for Uber in Hospitality &amp; Travel — each channel selected for cost-efficiency and audience 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CHANNEL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64792"/>
            <a:ext cx="1188720" cy="27432"/>
          </a:xfrm>
          <a:prstGeom prst="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21031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Programmatic DSP (£561.8K)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956816"/>
            <a:ext cx="896112" cy="201168"/>
          </a:xfrm>
          <a:prstGeom prst="roundRect">
            <a:avLst/>
          </a:prstGeom>
          <a:solidFill>
            <a:srgbClr val="202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1920240"/>
            <a:ext cx="548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58"/>
                </a:solidFill>
                <a:latin typeface="Poppins"/>
              </a:rPr>
              <a:t>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14154"/>
            <a:ext cx="21031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Global Job Boards (£386.2K)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250730"/>
            <a:ext cx="608076" cy="201168"/>
          </a:xfrm>
          <a:prstGeom prst="roundRect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4428" y="2214154"/>
            <a:ext cx="548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58"/>
                </a:solidFill>
                <a:latin typeface="Poppins"/>
              </a:rPr>
              <a:t>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508068"/>
            <a:ext cx="21031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Social Media (£273.3K)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2544644"/>
            <a:ext cx="448056" cy="201168"/>
          </a:xfrm>
          <a:prstGeom prst="round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4408" y="2508068"/>
            <a:ext cx="548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58"/>
                </a:solidFill>
                <a:latin typeface="Poppins"/>
              </a:rPr>
              <a:t>14%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801982"/>
            <a:ext cx="21031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Regional Boards (£267.6K)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2838558"/>
            <a:ext cx="416052" cy="201168"/>
          </a:xfrm>
          <a:prstGeom prst="roundRect">
            <a:avLst/>
          </a:prstGeom>
          <a:solidFill>
            <a:srgbClr val="B8B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2404" y="2801982"/>
            <a:ext cx="548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58"/>
                </a:solidFill>
                <a:latin typeface="Poppins"/>
              </a:rPr>
              <a:t>13%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95896"/>
            <a:ext cx="21031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APAC Regional (£195.6K)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3132472"/>
            <a:ext cx="320040" cy="201168"/>
          </a:xfrm>
          <a:prstGeom prst="round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36392" y="3095896"/>
            <a:ext cx="548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58"/>
                </a:solidFill>
                <a:latin typeface="Poppins"/>
              </a:rP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389810"/>
            <a:ext cx="21031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EMEA Regional (£195.6K)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3426386"/>
            <a:ext cx="320040" cy="201168"/>
          </a:xfrm>
          <a:prstGeom prst="roundRect">
            <a:avLst/>
          </a:prstGeom>
          <a:solidFill>
            <a:srgbClr val="D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36392" y="3389810"/>
            <a:ext cx="548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58"/>
                </a:solidFill>
                <a:latin typeface="Poppins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683724"/>
            <a:ext cx="21031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Niche / Industry Boards (£60K)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3720300"/>
            <a:ext cx="137160" cy="201168"/>
          </a:xfrm>
          <a:prstGeom prst="roundRect">
            <a:avLst/>
          </a:prstGeom>
          <a:solidFill>
            <a:srgbClr val="484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53512" y="3683724"/>
            <a:ext cx="548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58"/>
                </a:solidFill>
                <a:latin typeface="Poppins"/>
              </a:rPr>
              <a:t>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977638"/>
            <a:ext cx="21031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Employer Branding (£60K)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4014214"/>
            <a:ext cx="137160" cy="201168"/>
          </a:xfrm>
          <a:prstGeom prst="round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53512" y="3977638"/>
            <a:ext cx="548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58"/>
                </a:solidFill>
                <a:latin typeface="Poppins"/>
              </a:rPr>
              <a:t>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1463040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INDUSTRY BENCHMARKS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1764792"/>
            <a:ext cx="1828800" cy="27432"/>
          </a:xfrm>
          <a:prstGeom prst="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0" y="1920240"/>
            <a:ext cx="4663440" cy="347472"/>
          </a:xfrm>
          <a:prstGeom prst="rect">
            <a:avLst/>
          </a:prstGeom>
          <a:solidFill>
            <a:srgbClr val="202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1920240"/>
            <a:ext cx="20116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oppins"/>
              </a:rPr>
              <a:t>Metric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1920240"/>
            <a:ext cx="2286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oppins"/>
              </a:rPr>
              <a:t>Hospitality &amp; Travel Range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2267712"/>
            <a:ext cx="4663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0" y="2606040"/>
            <a:ext cx="4663440" cy="9144"/>
          </a:xfrm>
          <a:prstGeom prst="rect">
            <a:avLst/>
          </a:prstGeom>
          <a:solidFill>
            <a:srgbClr val="EB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2267712"/>
            <a:ext cx="20116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Industry CPA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2267712"/>
            <a:ext cx="2286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38721"/>
                </a:solidFill>
                <a:latin typeface="Poppins"/>
              </a:rPr>
              <a:t>£15 - £56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2615184"/>
            <a:ext cx="4663440" cy="347472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0" y="2953512"/>
            <a:ext cx="4663440" cy="9144"/>
          </a:xfrm>
          <a:prstGeom prst="rect">
            <a:avLst/>
          </a:prstGeom>
          <a:solidFill>
            <a:srgbClr val="EB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160" y="2615184"/>
            <a:ext cx="20116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Industry CPC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2615184"/>
            <a:ext cx="2286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38721"/>
                </a:solidFill>
                <a:latin typeface="Poppins"/>
              </a:rPr>
              <a:t>£0.63 - £2.90  (Volatile (+53.2% MoM in July 2025 per Recruitics))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2962656"/>
            <a:ext cx="4663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58000" y="3300984"/>
            <a:ext cx="4663440" cy="9144"/>
          </a:xfrm>
          <a:prstGeom prst="rect">
            <a:avLst/>
          </a:prstGeom>
          <a:solidFill>
            <a:srgbClr val="EB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95160" y="2962656"/>
            <a:ext cx="20116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Est. Cost-per-Hire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2962656"/>
            <a:ext cx="2286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38721"/>
                </a:solidFill>
                <a:latin typeface="Poppins"/>
              </a:rPr>
              <a:t>US$1,500-US$3,500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3310128"/>
            <a:ext cx="4663440" cy="347472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58000" y="3648456"/>
            <a:ext cx="4663440" cy="9144"/>
          </a:xfrm>
          <a:prstGeom prst="rect">
            <a:avLst/>
          </a:prstGeom>
          <a:solidFill>
            <a:srgbClr val="EB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95160" y="3310128"/>
            <a:ext cx="20116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Apply Rate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3310128"/>
            <a:ext cx="2286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38721"/>
                </a:solidFill>
                <a:latin typeface="Poppins"/>
              </a:rPr>
              <a:t>4-6%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3657600"/>
            <a:ext cx="4663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58000" y="3995928"/>
            <a:ext cx="4663440" cy="9144"/>
          </a:xfrm>
          <a:prstGeom prst="rect">
            <a:avLst/>
          </a:prstGeom>
          <a:solidFill>
            <a:srgbClr val="EB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95160" y="3657600"/>
            <a:ext cx="20116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Market Temp: commercial cab driver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3657600"/>
            <a:ext cx="2286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58"/>
                </a:solidFill>
                <a:latin typeface="Poppins"/>
              </a:rPr>
              <a:t>Hot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4050792"/>
            <a:ext cx="46634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596780"/>
                </a:solidFill>
                <a:latin typeface="Poppins"/>
              </a:rPr>
              <a:t>Sources: Industry benchmarks 2026, validated recruitment data, Nova AI Suite Ad Platform Intelligence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443484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CHANNEL CATEGORY ATTRIBUTION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736592"/>
            <a:ext cx="2560320" cy="27432"/>
          </a:xfrm>
          <a:prstGeom prst="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02920" y="4892040"/>
            <a:ext cx="2686050" cy="1097280"/>
          </a:xfrm>
          <a:prstGeom prst="roundRect">
            <a:avLst/>
          </a:prstGeom>
          <a:solidFill>
            <a:srgbClr val="202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4965192"/>
            <a:ext cx="241173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Poppins"/>
              </a:rPr>
              <a:t>PROGRAMMATIC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5212080"/>
            <a:ext cx="241173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Poppins"/>
              </a:rPr>
              <a:t>28%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5550408"/>
            <a:ext cx="241173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Poppins"/>
              </a:rPr>
              <a:t>Programmatic DSP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326130" y="4892040"/>
            <a:ext cx="2686050" cy="1097280"/>
          </a:xfrm>
          <a:prstGeom prst="roundRect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63290" y="4965192"/>
            <a:ext cx="241173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Poppins"/>
              </a:rPr>
              <a:t>JOB BOARDS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63290" y="5212080"/>
            <a:ext cx="241173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Poppins"/>
              </a:rPr>
              <a:t>55%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63290" y="5550408"/>
            <a:ext cx="241173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Poppins"/>
              </a:rPr>
              <a:t>Global Job Boards, Niche / Industry Boards, Regional Boards, APAC Regional, EMEA Regional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49340" y="4892040"/>
            <a:ext cx="2686050" cy="1097280"/>
          </a:xfrm>
          <a:prstGeom prst="round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86500" y="4965192"/>
            <a:ext cx="241173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58"/>
                </a:solidFill>
                <a:latin typeface="Poppins"/>
              </a:rPr>
              <a:t>SOCIAL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86500" y="5212080"/>
            <a:ext cx="241173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2058"/>
                </a:solidFill>
                <a:latin typeface="Poppins"/>
              </a:rPr>
              <a:t>14%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86500" y="5550408"/>
            <a:ext cx="241173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058"/>
                </a:solidFill>
                <a:latin typeface="Poppins"/>
              </a:rPr>
              <a:t>Social Media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972550" y="4892040"/>
            <a:ext cx="2686050" cy="1097280"/>
          </a:xfrm>
          <a:prstGeom prst="round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09710" y="4965192"/>
            <a:ext cx="241173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58"/>
                </a:solidFill>
                <a:latin typeface="Poppins"/>
              </a:rPr>
              <a:t>EMPLOYER BRAND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09710" y="5212080"/>
            <a:ext cx="241173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02058"/>
                </a:solidFill>
                <a:latin typeface="Poppins"/>
              </a:rPr>
              <a:t>3%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09710" y="5550408"/>
            <a:ext cx="241173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02058"/>
                </a:solidFill>
                <a:latin typeface="Poppins"/>
              </a:rPr>
              <a:t>Employer Branding</a:t>
            </a:r>
          </a:p>
        </p:txBody>
      </p:sp>
      <p:sp>
        <p:nvSpPr>
          <p:cNvPr id="78" name="Diamond 77"/>
          <p:cNvSpPr/>
          <p:nvPr/>
        </p:nvSpPr>
        <p:spPr>
          <a:xfrm>
            <a:off x="3147822" y="5330952"/>
            <a:ext cx="219456" cy="219456"/>
          </a:xfrm>
          <a:prstGeom prst="diamond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iamond 78"/>
          <p:cNvSpPr/>
          <p:nvPr/>
        </p:nvSpPr>
        <p:spPr>
          <a:xfrm>
            <a:off x="5971032" y="5330952"/>
            <a:ext cx="219456" cy="219456"/>
          </a:xfrm>
          <a:prstGeom prst="diamond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iamond 79"/>
          <p:cNvSpPr/>
          <p:nvPr/>
        </p:nvSpPr>
        <p:spPr>
          <a:xfrm>
            <a:off x="8794242" y="5330952"/>
            <a:ext cx="219456" cy="219456"/>
          </a:xfrm>
          <a:prstGeom prst="diamond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6254496"/>
            <a:ext cx="29260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38721"/>
                </a:solidFill>
                <a:latin typeface="Poppins"/>
              </a:rPr>
              <a:t>Live Data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66160" y="6254496"/>
            <a:ext cx="80924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3E8FAB"/>
                </a:solidFill>
                <a:latin typeface="Poppins"/>
              </a:rPr>
              <a:t>Benchmarks are US-calibrated — international markets may vary.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B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" y="6556248"/>
            <a:ext cx="4114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July 23, 2026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57800" y="6556248"/>
            <a:ext cx="6428232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B5CE"/>
                </a:solidFill>
                <a:latin typeface="Poppins"/>
              </a:rPr>
              <a:t>Created by Shubham Singh Chandel  •  Powered by Joveo's Global Supply Team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68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371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54BE"/>
                </a:solidFill>
                <a:latin typeface="Poppins"/>
              </a:rPr>
              <a:t>joveo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11480"/>
            <a:ext cx="110185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02058"/>
                </a:solidFill>
                <a:latin typeface="Poppins"/>
              </a:rPr>
              <a:t>Budget Allocation &amp; Projections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2058"/>
                </a:solidFill>
                <a:latin typeface="Poppins"/>
              </a:rPr>
              <a:t>Investment breakdown across 8 channels with projected outcomes for Uber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4747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3474720" cy="45720"/>
          </a:xfrm>
          <a:prstGeom prst="rect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34747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5A54BE"/>
                </a:solidFill>
                <a:latin typeface="Poppins"/>
              </a:rPr>
              <a:t>£2,000,000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29968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6780"/>
                </a:solidFill>
                <a:latin typeface="Poppins"/>
              </a:rPr>
              <a:t>Total Investment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4747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474720" cy="45720"/>
          </a:xfrm>
          <a:prstGeom prst="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481328"/>
            <a:ext cx="34747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6BB5CE"/>
                </a:solidFill>
                <a:latin typeface="Poppins"/>
              </a:rPr>
              <a:t>281,721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29968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6780"/>
                </a:solidFill>
                <a:latin typeface="Poppins"/>
              </a:rPr>
              <a:t>Projected Applications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4747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3474720" cy="45720"/>
          </a:xfrm>
          <a:prstGeom prst="rect">
            <a:avLst/>
          </a:prstGeom>
          <a:solidFill>
            <a:srgbClr val="338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481328"/>
            <a:ext cx="34747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338721"/>
                </a:solidFill>
                <a:latin typeface="Poppins"/>
              </a:rPr>
              <a:t>1,230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029968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96780"/>
                </a:solidFill>
                <a:latin typeface="Poppins"/>
              </a:rPr>
              <a:t>Projected Hires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060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54BE"/>
                </a:solidFill>
                <a:latin typeface="Poppins"/>
              </a:rPr>
              <a:t>CHANNEL-BY-CHANNEL BREAKDOWN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26080"/>
            <a:ext cx="11155680" cy="347472"/>
          </a:xfrm>
          <a:prstGeom prst="rect">
            <a:avLst/>
          </a:prstGeom>
          <a:solidFill>
            <a:srgbClr val="202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926080"/>
            <a:ext cx="26517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oppins"/>
              </a:rPr>
              <a:t>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926080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oppins"/>
              </a:rPr>
              <a:t>Allocation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926080"/>
            <a:ext cx="19202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oppins"/>
              </a:rPr>
              <a:t>Investment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926080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oppins"/>
              </a:rPr>
              <a:t>Proj. Apps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926080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oppins"/>
              </a:rPr>
              <a:t>Proj. Hires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2926080"/>
            <a:ext cx="12801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oppins"/>
              </a:rPr>
              <a:t>CPA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273552"/>
            <a:ext cx="11155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12648" y="3392424"/>
            <a:ext cx="109728" cy="109728"/>
          </a:xfrm>
          <a:prstGeom prst="ellipse">
            <a:avLst/>
          </a:prstGeom>
          <a:solidFill>
            <a:srgbClr val="202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273552"/>
            <a:ext cx="24688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Programmatic DSP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3273552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28%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273552"/>
            <a:ext cx="19202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£561,772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273552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146,549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3273552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566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3273552"/>
            <a:ext cx="12801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£4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621024"/>
            <a:ext cx="11155680" cy="347472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12648" y="3739896"/>
            <a:ext cx="109728" cy="109728"/>
          </a:xfrm>
          <a:prstGeom prst="ellipse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3621024"/>
            <a:ext cx="24688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Global Job Boards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3621024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19%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3621024"/>
            <a:ext cx="19202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£386,172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3621024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22,248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3621024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132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3621024"/>
            <a:ext cx="12801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£17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968496"/>
            <a:ext cx="11155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2648" y="4087368"/>
            <a:ext cx="109728" cy="109728"/>
          </a:xfrm>
          <a:prstGeom prst="ellipse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3968496"/>
            <a:ext cx="24688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Social Media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7560" y="3968496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14%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83480" y="3968496"/>
            <a:ext cx="19202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£273,338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3968496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2,609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1080" y="3968496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968496"/>
            <a:ext cx="12801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£105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315968"/>
            <a:ext cx="11155680" cy="347472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12648" y="4434840"/>
            <a:ext cx="109728" cy="109728"/>
          </a:xfrm>
          <a:prstGeom prst="ellipse">
            <a:avLst/>
          </a:prstGeom>
          <a:solidFill>
            <a:srgbClr val="B8B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4315968"/>
            <a:ext cx="24688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Regional Boards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4315968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13%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83480" y="4315968"/>
            <a:ext cx="19202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£267,572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95160" y="4315968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42,943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41080" y="4315968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204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87000" y="4315968"/>
            <a:ext cx="12801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£6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4663440"/>
            <a:ext cx="11155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12648" y="4782312"/>
            <a:ext cx="109728" cy="109728"/>
          </a:xfrm>
          <a:prstGeom prst="ellipse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4663440"/>
            <a:ext cx="24688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APAC Regional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37560" y="4663440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10%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4663440"/>
            <a:ext cx="19202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£195,572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95160" y="4663440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31,387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41080" y="4663440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149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87000" y="4663440"/>
            <a:ext cx="12801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£6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5010912"/>
            <a:ext cx="11155680" cy="347472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12648" y="5129784"/>
            <a:ext cx="109728" cy="109728"/>
          </a:xfrm>
          <a:prstGeom prst="ellipse">
            <a:avLst/>
          </a:prstGeom>
          <a:solidFill>
            <a:srgbClr val="596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7240" y="5010912"/>
            <a:ext cx="24688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02058"/>
                </a:solidFill>
                <a:latin typeface="Poppins"/>
              </a:rPr>
              <a:t>+3 smaller channels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37560" y="5010912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02058"/>
                </a:solidFill>
                <a:latin typeface="Poppins"/>
              </a:rPr>
              <a:t>16%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83480" y="5010912"/>
            <a:ext cx="19202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02058"/>
                </a:solidFill>
                <a:latin typeface="Poppins"/>
              </a:rPr>
              <a:t>£315,572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95160" y="5010912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02058"/>
                </a:solidFill>
                <a:latin typeface="Poppins"/>
              </a:rPr>
              <a:t>35,985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41080" y="5010912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02058"/>
                </a:solidFill>
                <a:latin typeface="Poppins"/>
              </a:rPr>
              <a:t>172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87000" y="5010912"/>
            <a:ext cx="12801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02058"/>
                </a:solidFill>
                <a:latin typeface="Poppins"/>
              </a:rPr>
              <a:t>£9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5358384"/>
            <a:ext cx="11155680" cy="347472"/>
          </a:xfrm>
          <a:prstGeom prst="rect">
            <a:avLst/>
          </a:prstGeom>
          <a:solidFill>
            <a:srgbClr val="202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7240" y="5358384"/>
            <a:ext cx="24688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oppins"/>
              </a:rPr>
              <a:t>Total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37560" y="5358384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oppins"/>
              </a:rPr>
              <a:t>100%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83480" y="5358384"/>
            <a:ext cx="192024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oppins"/>
              </a:rPr>
              <a:t>£2,000,000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95160" y="5358384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oppins"/>
              </a:rPr>
              <a:t>281,721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41080" y="5358384"/>
            <a:ext cx="155448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oppins"/>
              </a:rPr>
              <a:t>1,230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87000" y="5358384"/>
            <a:ext cx="12801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Poppins"/>
              </a:rPr>
              <a:t>£7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5751576"/>
            <a:ext cx="11155680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96780"/>
                </a:solidFill>
                <a:latin typeface="Poppins"/>
              </a:rPr>
              <a:t>Funnel: 4,463,891 clicks → 281,721 applications → 38,936 qualified → 7,833 interviews → 1,230 hires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02920" y="5961888"/>
            <a:ext cx="11155680" cy="457200"/>
          </a:xfrm>
          <a:prstGeom prst="roundRect">
            <a:avLst/>
          </a:prstGeom>
          <a:solidFill>
            <a:srgbClr val="202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02920" y="5961888"/>
            <a:ext cx="54864" cy="457200"/>
          </a:xfrm>
          <a:prstGeom prst="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7240" y="5961888"/>
            <a:ext cx="106070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Poppins"/>
              </a:rPr>
              <a:t>Budget engine projects £7 average CPA across all channels, with $1,626 average cost-per-hire. At 1,230 projected hires, Uber's investment yields strong programmatic ROI through ML-driven bid optimization.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B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2920" y="6556248"/>
            <a:ext cx="4114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July 23, 2026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57800" y="6556248"/>
            <a:ext cx="6428232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B5CE"/>
                </a:solidFill>
                <a:latin typeface="Poppins"/>
              </a:rPr>
              <a:t>Created by Shubham Singh Chandel  •  Powered by Joveo's Global Supply Team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68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371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54BE"/>
                </a:solidFill>
                <a:latin typeface="Poppins"/>
              </a:rPr>
              <a:t>joveo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11480"/>
            <a:ext cx="110185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02058"/>
                </a:solidFill>
                <a:latin typeface="Poppins"/>
              </a:rPr>
              <a:t>Competitive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2058"/>
                </a:solidFill>
                <a:latin typeface="Poppins"/>
              </a:rPr>
              <a:t>Market positioning and competitor intelligence for Uber's talent acquisition strategy in Hospitality &amp; Travel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COMPANY PROFILE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64792"/>
            <a:ext cx="1645920" cy="27432"/>
          </a:xfrm>
          <a:prstGeom prst="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5029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54864" cy="566928"/>
          </a:xfrm>
          <a:prstGeom prst="rect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46634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Company:  </a:t>
            </a:r>
            <a:r>
              <a:rPr sz="900" b="0" i="0">
                <a:solidFill>
                  <a:srgbClr val="596780"/>
                </a:solidFill>
                <a:latin typeface="Poppins"/>
              </a:rPr>
              <a:t>uber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70048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58"/>
                </a:solidFill>
                <a:latin typeface="Poppins"/>
              </a:rPr>
              <a:t>INDUSTRY HIRING TRENDS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26080"/>
            <a:ext cx="1828800" cy="27432"/>
          </a:xfrm>
          <a:prstGeom prst="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35808"/>
            <a:ext cx="50292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900" b="0" i="0">
                <a:solidFill>
                  <a:srgbClr val="6BB5CE"/>
                </a:solidFill>
                <a:latin typeface="Poppins"/>
              </a:rPr>
              <a:t>▸  </a:t>
            </a:r>
            <a:r>
              <a:rPr sz="900" b="0" i="0">
                <a:solidFill>
                  <a:srgbClr val="202058"/>
                </a:solidFill>
                <a:latin typeface="Poppins"/>
              </a:rPr>
              <a:t>UK was prioritized based on a tight talent-supply tier.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463040"/>
            <a:ext cx="5760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COMPETITOR LANDSCAPE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764792"/>
            <a:ext cx="2011680" cy="27432"/>
          </a:xfrm>
          <a:prstGeom prst="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920240"/>
            <a:ext cx="57607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920240"/>
            <a:ext cx="54864" cy="1188720"/>
          </a:xfrm>
          <a:prstGeom prst="rect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96596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58"/>
                </a:solidFill>
                <a:latin typeface="Poppins"/>
              </a:rPr>
              <a:t>(National) Marriott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965960"/>
            <a:ext cx="25603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596780"/>
                </a:solidFill>
                <a:latin typeface="Poppins"/>
              </a:rPr>
              <a:t>Industry competitor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194560"/>
            <a:ext cx="5394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6780"/>
                </a:solidFill>
                <a:latin typeface="Poppins"/>
              </a:rPr>
              <a:t>Why: Marriott actively recruits commercial cab driver candidates in UK, competing directly for this plan's pipeline -- and for the same customers.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450592"/>
            <a:ext cx="5394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38721"/>
                </a:solidFill>
                <a:latin typeface="Poppins"/>
              </a:rPr>
              <a:t>Counter: Marriott is actively competing for commercial cab driver candidates in UK -- sharpen offer cadence and speed-to-contact to stay ahead of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3218688"/>
            <a:ext cx="57607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3218688"/>
            <a:ext cx="54864" cy="1188720"/>
          </a:xfrm>
          <a:prstGeom prst="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264408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58"/>
                </a:solidFill>
                <a:latin typeface="Poppins"/>
              </a:rPr>
              <a:t>(National) Hilton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264408"/>
            <a:ext cx="25603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596780"/>
                </a:solidFill>
                <a:latin typeface="Poppins"/>
              </a:rPr>
              <a:t>Industry competitor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493008"/>
            <a:ext cx="5394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6780"/>
                </a:solidFill>
                <a:latin typeface="Poppins"/>
              </a:rPr>
              <a:t>Why: Hilton is a same-vertical employer drawing from the same commercial cab driver candidates in UK this plan targets.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749040"/>
            <a:ext cx="5394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38721"/>
                </a:solidFill>
                <a:latin typeface="Poppins"/>
              </a:rPr>
              <a:t>Counter: Expect Hilton to keep pressure on commercial cab driver candidates in UK; a faster interview-to-offer cycle is the clearest lever to counter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4517136"/>
            <a:ext cx="57607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4517136"/>
            <a:ext cx="54864" cy="1188720"/>
          </a:xfrm>
          <a:prstGeom prst="rect">
            <a:avLst/>
          </a:prstGeom>
          <a:solidFill>
            <a:srgbClr val="202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562856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2058"/>
                </a:solidFill>
                <a:latin typeface="Poppins"/>
              </a:rPr>
              <a:t>(National) Hyatt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562856"/>
            <a:ext cx="256032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596780"/>
                </a:solidFill>
                <a:latin typeface="Poppins"/>
              </a:rPr>
              <a:t>Industry competitor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791456"/>
            <a:ext cx="5394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6780"/>
                </a:solidFill>
                <a:latin typeface="Poppins"/>
              </a:rPr>
              <a:t>Why: Hyatt's hiring activity for similar roles puts direct pressure on commercial cab driver candidates in UK, while also competing for the same customer base.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047488"/>
            <a:ext cx="5394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38721"/>
                </a:solidFill>
                <a:latin typeface="Poppins"/>
              </a:rPr>
              <a:t>Counter: Hyatt's presence in this pool means commercial cab driver candidates in UK have options -- lead with total-comp clarity and a same-week interview slot.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126480"/>
            <a:ext cx="11155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596780"/>
                </a:solidFill>
                <a:latin typeface="Poppins"/>
              </a:rPr>
              <a:t>Sources: Public company filings, industry employment data, curated knowledge base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B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556248"/>
            <a:ext cx="4114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July 23,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6556248"/>
            <a:ext cx="6428232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B5CE"/>
                </a:solidFill>
                <a:latin typeface="Poppins"/>
              </a:rPr>
              <a:t>Created by Shubham Singh Chandel  •  Powered by Joveo's Global Supply Team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68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371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54BE"/>
                </a:solidFill>
                <a:latin typeface="Poppins"/>
              </a:rPr>
              <a:t>joveo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11480"/>
            <a:ext cx="110185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02058"/>
                </a:solidFill>
                <a:latin typeface="Poppins"/>
              </a:rPr>
              <a:t>Plan Comparison &amp;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2058"/>
                </a:solidFill>
                <a:latin typeface="Poppins"/>
              </a:rPr>
              <a:t>Uber's optimized media plan vs. Hospitality &amp; Travel industry averages with phased implementation 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394960" cy="2697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394960" cy="411480"/>
          </a:xfrm>
          <a:prstGeom prst="rect">
            <a:avLst/>
          </a:prstGeom>
          <a:solidFill>
            <a:srgbClr val="202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50292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Poppins"/>
              </a:rPr>
              <a:t>⬢  Uber's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74520"/>
            <a:ext cx="5303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874520"/>
            <a:ext cx="25603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Programmatic Allocation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874520"/>
            <a:ext cx="22860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2058"/>
                </a:solidFill>
                <a:latin typeface="Poppins"/>
              </a:rPr>
              <a:t>28%</a:t>
            </a:r>
            <a:r>
              <a:rPr sz="1000" b="1" i="0">
                <a:solidFill>
                  <a:srgbClr val="338721"/>
                </a:solidFill>
                <a:latin typeface="Poppins"/>
              </a:rPr>
              <a:t>  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86000"/>
            <a:ext cx="5303520" cy="41148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286000"/>
            <a:ext cx="25603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Geographic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286000"/>
            <a:ext cx="22860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2058"/>
                </a:solidFill>
                <a:latin typeface="Poppins"/>
              </a:rPr>
              <a:t>6 markets</a:t>
            </a:r>
            <a:r>
              <a:rPr sz="1000" b="1" i="0">
                <a:solidFill>
                  <a:srgbClr val="338721"/>
                </a:solidFill>
                <a:latin typeface="Poppins"/>
              </a:rPr>
              <a:t>  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97480"/>
            <a:ext cx="5303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697480"/>
            <a:ext cx="25603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Projected CPA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697480"/>
            <a:ext cx="22860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2058"/>
                </a:solidFill>
                <a:latin typeface="Poppins"/>
              </a:rPr>
              <a:t>£7.10</a:t>
            </a:r>
            <a:r>
              <a:rPr sz="1000" b="1" i="0">
                <a:solidFill>
                  <a:srgbClr val="338721"/>
                </a:solidFill>
                <a:latin typeface="Poppins"/>
              </a:rPr>
              <a:t>  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5303520" cy="41148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108960"/>
            <a:ext cx="25603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Channels Selected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108960"/>
            <a:ext cx="22860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2058"/>
                </a:solidFill>
                <a:latin typeface="Poppins"/>
              </a:rPr>
              <a:t>8</a:t>
            </a:r>
            <a:r>
              <a:rPr sz="1000" b="1" i="0">
                <a:solidFill>
                  <a:srgbClr val="596780"/>
                </a:solidFill>
                <a:latin typeface="Poppins"/>
              </a:rPr>
              <a:t>  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20440"/>
            <a:ext cx="5303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520440"/>
            <a:ext cx="25603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Projected Hires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520440"/>
            <a:ext cx="22860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02058"/>
                </a:solidFill>
                <a:latin typeface="Poppins"/>
              </a:rPr>
              <a:t>1,230</a:t>
            </a:r>
            <a:r>
              <a:rPr sz="1000" b="1" i="0">
                <a:solidFill>
                  <a:srgbClr val="596780"/>
                </a:solidFill>
                <a:latin typeface="Poppins"/>
              </a:rPr>
              <a:t> 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417320"/>
            <a:ext cx="5394960" cy="2697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1417320"/>
            <a:ext cx="5394960" cy="411480"/>
          </a:xfrm>
          <a:prstGeom prst="rect">
            <a:avLst/>
          </a:prstGeom>
          <a:solidFill>
            <a:srgbClr val="596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463040"/>
            <a:ext cx="50292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Poppins"/>
              </a:rPr>
              <a:t>○  Hospitality &amp; Travel Average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874520"/>
            <a:ext cx="5303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1874520"/>
            <a:ext cx="25603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Programmatic Allocation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1874520"/>
            <a:ext cx="22860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96780"/>
                </a:solidFill>
                <a:latin typeface="Poppins"/>
              </a:rPr>
              <a:t>22%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286000"/>
            <a:ext cx="5303520" cy="41148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2286000"/>
            <a:ext cx="25603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Geographic 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286000"/>
            <a:ext cx="22860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96780"/>
                </a:solidFill>
                <a:latin typeface="Poppins"/>
              </a:rPr>
              <a:t>3-5 markets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697480"/>
            <a:ext cx="5303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697480"/>
            <a:ext cx="25603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Projected CPA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2697480"/>
            <a:ext cx="22860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96780"/>
                </a:solidFill>
                <a:latin typeface="Poppins"/>
              </a:rPr>
              <a:t>£15 - £56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108960"/>
            <a:ext cx="5303520" cy="41148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108960"/>
            <a:ext cx="25603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Channels Selected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3108960"/>
            <a:ext cx="22860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96780"/>
                </a:solidFill>
                <a:latin typeface="Poppins"/>
              </a:rP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520440"/>
            <a:ext cx="53035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520440"/>
            <a:ext cx="25603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2058"/>
                </a:solidFill>
                <a:latin typeface="Poppins"/>
              </a:rPr>
              <a:t>Projected Hires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3520440"/>
            <a:ext cx="22860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96780"/>
                </a:solidFill>
                <a:latin typeface="Poppins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151376"/>
            <a:ext cx="54864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38721"/>
                </a:solidFill>
                <a:latin typeface="Poppins"/>
              </a:rPr>
              <a:t>▲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Beating benchmark    </a:t>
            </a:r>
            <a:r>
              <a:rPr sz="800" b="1" i="0">
                <a:solidFill>
                  <a:srgbClr val="3E8FAB"/>
                </a:solidFill>
                <a:latin typeface="Poppins"/>
              </a:rPr>
              <a:t>▼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Trailing benchmark    </a:t>
            </a:r>
            <a:r>
              <a:rPr sz="800" b="1" i="0">
                <a:solidFill>
                  <a:srgbClr val="596780"/>
                </a:solidFill>
                <a:latin typeface="Poppins"/>
              </a:rPr>
              <a:t>—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On par / within range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55371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IMPLEMENTATION TIMELINE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828032"/>
            <a:ext cx="2011680" cy="27432"/>
          </a:xfrm>
          <a:prstGeom prst="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2920" y="4965192"/>
            <a:ext cx="35204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4965192"/>
            <a:ext cx="3520440" cy="45720"/>
          </a:xfrm>
          <a:prstGeom prst="rect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2648" y="5102352"/>
            <a:ext cx="822960" cy="228600"/>
          </a:xfrm>
          <a:prstGeom prst="roundRect">
            <a:avLst/>
          </a:prstGeom>
          <a:solidFill>
            <a:srgbClr val="DDD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" y="5102352"/>
            <a:ext cx="8229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A54BE"/>
                </a:solidFill>
                <a:latin typeface="Poppins"/>
              </a:rPr>
              <a:t>PHASE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08760" y="5102352"/>
            <a:ext cx="13716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6780"/>
                </a:solidFill>
                <a:latin typeface="Poppins"/>
              </a:rPr>
              <a:t>Weeks 1-2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5404104"/>
            <a:ext cx="3300984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Launch &amp; Calibrate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" y="5678424"/>
            <a:ext cx="330098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800" b="0" i="0">
                <a:solidFill>
                  <a:srgbClr val="5A54BE"/>
                </a:solidFill>
                <a:latin typeface="Poppins"/>
              </a:rPr>
              <a:t>✓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Campaign setup &amp; publisher activation for Uber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800" b="0" i="0">
                <a:solidFill>
                  <a:srgbClr val="5A54BE"/>
                </a:solidFill>
                <a:latin typeface="Poppins"/>
              </a:rPr>
              <a:t>✓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Baseline measurement &amp; tracking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800" b="0" i="0">
                <a:solidFill>
                  <a:srgbClr val="5A54BE"/>
                </a:solidFill>
                <a:latin typeface="Poppins"/>
              </a:rPr>
              <a:t>✓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Attribution configuration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51960" y="4965192"/>
            <a:ext cx="35204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51960" y="4965192"/>
            <a:ext cx="3520440" cy="45720"/>
          </a:xfrm>
          <a:prstGeom prst="rect">
            <a:avLst/>
          </a:prstGeom>
          <a:solidFill>
            <a:srgbClr val="338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361688" y="5102352"/>
            <a:ext cx="822960" cy="228600"/>
          </a:xfrm>
          <a:prstGeom prst="roundRect">
            <a:avLst/>
          </a:prstGeom>
          <a:solidFill>
            <a:srgbClr val="E6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61688" y="5102352"/>
            <a:ext cx="8229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38721"/>
                </a:solidFill>
                <a:latin typeface="Poppins"/>
              </a:rPr>
              <a:t>PHASE 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57800" y="5102352"/>
            <a:ext cx="13716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6780"/>
                </a:solidFill>
                <a:latin typeface="Poppins"/>
              </a:rPr>
              <a:t>Weeks 3-6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61688" y="5404104"/>
            <a:ext cx="3300984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Optimize &amp; Scale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61688" y="5678424"/>
            <a:ext cx="330098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800" b="0" i="0">
                <a:solidFill>
                  <a:srgbClr val="338721"/>
                </a:solidFill>
                <a:latin typeface="Poppins"/>
              </a:rPr>
              <a:t>✓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ML bid optimization active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800" b="0" i="0">
                <a:solidFill>
                  <a:srgbClr val="338721"/>
                </a:solidFill>
                <a:latin typeface="Poppins"/>
              </a:rPr>
              <a:t>✓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A/B test creative &amp; targeting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800" b="0" i="0">
                <a:solidFill>
                  <a:srgbClr val="338721"/>
                </a:solidFill>
                <a:latin typeface="Poppins"/>
              </a:rPr>
              <a:t>✓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Scale top performers: Programmatic DSP and Global Job Boards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01000" y="4965192"/>
            <a:ext cx="35204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001000" y="4965192"/>
            <a:ext cx="3520440" cy="45720"/>
          </a:xfrm>
          <a:prstGeom prst="rect">
            <a:avLst/>
          </a:prstGeom>
          <a:solidFill>
            <a:srgbClr val="202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110728" y="5102352"/>
            <a:ext cx="822960" cy="2286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10728" y="5102352"/>
            <a:ext cx="8229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2058"/>
                </a:solidFill>
                <a:latin typeface="Poppins"/>
              </a:rPr>
              <a:t>PHASE 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06840" y="5102352"/>
            <a:ext cx="137160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96780"/>
                </a:solidFill>
                <a:latin typeface="Poppins"/>
              </a:rPr>
              <a:t>Weeks 7-12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10728" y="5404104"/>
            <a:ext cx="3300984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Maximize &amp; Report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10728" y="5678424"/>
            <a:ext cx="330098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800" b="0" i="0">
                <a:solidFill>
                  <a:srgbClr val="202058"/>
                </a:solidFill>
                <a:latin typeface="Poppins"/>
              </a:rPr>
              <a:t>✓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Full CPQA optimization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800" b="0" i="0">
                <a:solidFill>
                  <a:srgbClr val="202058"/>
                </a:solidFill>
                <a:latin typeface="Poppins"/>
              </a:rPr>
              <a:t>✓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ROI analysis &amp; reallocation</a:t>
            </a:r>
          </a:p>
          <a:p>
            <a:pPr algn="l">
              <a:spcBef>
                <a:spcPts val="100"/>
              </a:spcBef>
              <a:spcAft>
                <a:spcPts val="300"/>
              </a:spcAft>
            </a:pPr>
            <a:r>
              <a:rPr sz="800" b="0" i="0">
                <a:solidFill>
                  <a:srgbClr val="202058"/>
                </a:solidFill>
                <a:latin typeface="Poppins"/>
              </a:rPr>
              <a:t>✓  </a:t>
            </a:r>
            <a:r>
              <a:rPr sz="800" b="0" i="0">
                <a:solidFill>
                  <a:srgbClr val="596780"/>
                </a:solidFill>
                <a:latin typeface="Poppins"/>
              </a:rPr>
              <a:t>Performance review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46220" y="5628132"/>
            <a:ext cx="182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B5CE"/>
                </a:solidFill>
                <a:latin typeface="Poppins"/>
              </a:rPr>
              <a:t>▶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95260" y="5628132"/>
            <a:ext cx="182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B5CE"/>
                </a:solidFill>
                <a:latin typeface="Poppins"/>
              </a:rPr>
              <a:t>▶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B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6556248"/>
            <a:ext cx="4114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July 23,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57800" y="6556248"/>
            <a:ext cx="6428232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B5CE"/>
                </a:solidFill>
                <a:latin typeface="Poppins"/>
              </a:rPr>
              <a:t>Created by Shubham Singh Chandel  •  Powered by Joveo's Global Supply Team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68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371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54BE"/>
                </a:solidFill>
                <a:latin typeface="Poppins"/>
              </a:rPr>
              <a:t>joveo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11480"/>
            <a:ext cx="110185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02058"/>
                </a:solidFill>
                <a:latin typeface="Poppins"/>
              </a:rPr>
              <a:t>Risk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2058"/>
                </a:solidFill>
                <a:latin typeface="Poppins"/>
              </a:rPr>
              <a:t>Strategic risk assessment for Uber's recruitment campaign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8852"/>
            <a:ext cx="5486400" cy="15773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48852"/>
            <a:ext cx="54864" cy="1577339"/>
          </a:xfrm>
          <a:prstGeom prst="rect">
            <a:avLst/>
          </a:prstGeom>
          <a:solidFill>
            <a:srgbClr val="B76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22004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7669E"/>
                </a:solidFill>
                <a:latin typeface="Poppins"/>
              </a:rPr>
              <a:t>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41460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CPA Inflation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43212"/>
            <a:ext cx="5120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Impact: If CPA rises 20%, hires drop from 1,230 to 1,024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62109"/>
            <a:ext cx="5120640" cy="572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Mitigation: Build 10-15% budget contingency; diversify channels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48852"/>
            <a:ext cx="5486400" cy="15773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48852"/>
            <a:ext cx="54864" cy="1577339"/>
          </a:xfrm>
          <a:prstGeom prst="rect">
            <a:avLst/>
          </a:prstGeom>
          <a:solidFill>
            <a:srgbClr val="3E8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22004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E8FAB"/>
                </a:solidFill>
                <a:latin typeface="Poppins"/>
              </a:rPr>
              <a:t>TIMING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41460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Seasonal Variations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43212"/>
            <a:ext cx="5120640" cy="30861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Impact: September, October, January run high hiring intensity for this plan (Fall conference season, Holiday event planning staffing, Post-holiday staffing reset)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16414"/>
            <a:ext cx="5120640" cy="41833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Mitigation: Front-load budget into these months; monitor weekly CPA trends and shift spend to high-performing periods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54792"/>
            <a:ext cx="5486400" cy="14230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054792"/>
            <a:ext cx="54864" cy="1423035"/>
          </a:xfrm>
          <a:prstGeom prst="rect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27944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A54BE"/>
                </a:solidFill>
                <a:latin typeface="Poppins"/>
              </a:rPr>
              <a:t>CHANNELS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47400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Channel Fragmentation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49152"/>
            <a:ext cx="51206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Impact: Budget spread across many channels may dilute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68049"/>
            <a:ext cx="5120640" cy="41833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Mitigation: Consolidate on top 3-4 performers after 2-week pilot period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054792"/>
            <a:ext cx="5486400" cy="14230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054792"/>
            <a:ext cx="54864" cy="1423035"/>
          </a:xfrm>
          <a:prstGeom prst="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127944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B5CE"/>
                </a:solidFill>
                <a:latin typeface="Poppins"/>
              </a:rPr>
              <a:t>COMPETITION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347400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02058"/>
                </a:solidFill>
                <a:latin typeface="Poppins"/>
              </a:rPr>
              <a:t>Competitive Landscape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649152"/>
            <a:ext cx="5120640" cy="30861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02058"/>
                </a:solidFill>
                <a:latin typeface="Poppins"/>
              </a:rPr>
              <a:t>Impact: Marriott and similar employers may increase hiring activity during the campaign period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22354"/>
            <a:ext cx="5120640" cy="264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Mitigation: Monitor Marriott's job posting volumes weekly; adjust messaging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B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56248"/>
            <a:ext cx="4114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July 23,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6556248"/>
            <a:ext cx="6428232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B5CE"/>
                </a:solidFill>
                <a:latin typeface="Poppins"/>
              </a:rPr>
              <a:t>Created by Shubham Singh Chandel  •  Powered by Joveo's Global Supply Team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68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1371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54BE"/>
                </a:solidFill>
                <a:latin typeface="Poppins"/>
              </a:rPr>
              <a:t>joveo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411480"/>
            <a:ext cx="110185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02058"/>
                </a:solidFill>
                <a:latin typeface="Poppins"/>
              </a:rPr>
              <a:t>The Joveo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841248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A54BE"/>
                </a:solidFill>
                <a:latin typeface="Poppins"/>
              </a:rPr>
              <a:t>Why Joveo is the right partner for Uber's Hospitality &amp; Travel hiring at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81328"/>
            <a:ext cx="548640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81328"/>
            <a:ext cx="5486400" cy="73152"/>
          </a:xfrm>
          <a:prstGeom prst="rect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664208"/>
            <a:ext cx="5047488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A54BE"/>
                </a:solidFill>
                <a:latin typeface="Poppins"/>
              </a:rPr>
              <a:t>AI-Powered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066544"/>
            <a:ext cx="5047488" cy="5212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4F"/>
                </a:solidFill>
                <a:latin typeface="Poppins"/>
              </a:rPr>
              <a:t>Real-time bid &amp; budget optimization at the individual-job level — spend shifts autonomously from easy-to-fill to hard-to-fill roles.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81328"/>
            <a:ext cx="548640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481328"/>
            <a:ext cx="5486400" cy="73152"/>
          </a:xfrm>
          <a:prstGeom prst="rect">
            <a:avLst/>
          </a:prstGeom>
          <a:solidFill>
            <a:srgbClr val="6BB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1664208"/>
            <a:ext cx="5047488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BB5CE"/>
                </a:solidFill>
                <a:latin typeface="Poppins"/>
              </a:rPr>
              <a:t>Global, Multi-Language 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2066544"/>
            <a:ext cx="5047488" cy="5212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4F"/>
                </a:solidFill>
                <a:latin typeface="Poppins"/>
              </a:rPr>
              <a:t>Proven playbooks across 50+ countries — databases, DSPs, social, freelance platforms and local job boards, in local languages.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944368"/>
            <a:ext cx="548640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944368"/>
            <a:ext cx="5486400" cy="73152"/>
          </a:xfrm>
          <a:prstGeom prst="rect">
            <a:avLst/>
          </a:prstGeom>
          <a:solidFill>
            <a:srgbClr val="B76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3127248"/>
            <a:ext cx="5047488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69E"/>
                </a:solidFill>
                <a:latin typeface="Poppins"/>
              </a:rPr>
              <a:t>Job Content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3529584"/>
            <a:ext cx="5047488" cy="5212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4F"/>
                </a:solidFill>
                <a:latin typeface="Poppins"/>
              </a:rPr>
              <a:t>A JD scoring engine plus automated job creation produce high-converting, SEO-optimized listings that lift apply rates.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944368"/>
            <a:ext cx="5486400" cy="1234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944368"/>
            <a:ext cx="5486400" cy="73152"/>
          </a:xfrm>
          <a:prstGeom prst="rect">
            <a:avLst/>
          </a:prstGeom>
          <a:solidFill>
            <a:srgbClr val="868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4536" y="3127248"/>
            <a:ext cx="5047488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680D6"/>
                </a:solidFill>
                <a:latin typeface="Poppins"/>
              </a:rPr>
              <a:t>Managed, Transparent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3529584"/>
            <a:ext cx="5047488" cy="5212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34F"/>
                </a:solidFill>
                <a:latin typeface="Poppins"/>
              </a:rPr>
              <a:t>Joveo runs every channel and database for you — transparent pay-per-click / apply pricing, scaled or shifted weekly.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498848"/>
            <a:ext cx="11018520" cy="475488"/>
          </a:xfrm>
          <a:prstGeom prst="roundRect">
            <a:avLst/>
          </a:prstGeom>
          <a:solidFill>
            <a:srgbClr val="202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98848"/>
            <a:ext cx="104698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Poppins"/>
              </a:rPr>
              <a:t>One managed partner, one tracked funnel — built to scale Uber's hiring with a predictable cost-per-hire.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B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56248"/>
            <a:ext cx="4114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July 23,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6556248"/>
            <a:ext cx="6428232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B5CE"/>
                </a:solidFill>
                <a:latin typeface="Poppins"/>
              </a:rPr>
              <a:t>Created by Shubham Singh Chandel  •  Powered by Joveo's Global Supply Team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68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371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A54BE"/>
                </a:solidFill>
                <a:latin typeface="Poppins"/>
              </a:rPr>
              <a:t>joveo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411480"/>
            <a:ext cx="110185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02058"/>
                </a:solidFill>
                <a:latin typeface="Poppins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41248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02058"/>
                </a:solidFill>
                <a:latin typeface="Poppins"/>
              </a:rPr>
              <a:t>Recommended path forward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11201400" cy="813816"/>
          </a:xfrm>
          <a:prstGeom prst="roundRect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805940"/>
            <a:ext cx="402336" cy="402336"/>
          </a:xfrm>
          <a:prstGeom prst="ellipse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05940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600200"/>
            <a:ext cx="9966960" cy="8138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02058"/>
                </a:solidFill>
                <a:latin typeface="Poppins"/>
              </a:rPr>
              <a:t>Align on scope: confirm the commercial cab driver priority and the 6 markets (UK, Australia and 4 more)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42032"/>
            <a:ext cx="11201400" cy="813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747772"/>
            <a:ext cx="402336" cy="402336"/>
          </a:xfrm>
          <a:prstGeom prst="ellipse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47772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542032"/>
            <a:ext cx="9966960" cy="8138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02058"/>
                </a:solidFill>
                <a:latin typeface="Poppins"/>
              </a:rPr>
              <a:t>Finalize weekly budget ($2M over 1-3 months) and success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83864"/>
            <a:ext cx="11201400" cy="813816"/>
          </a:xfrm>
          <a:prstGeom prst="roundRect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689604"/>
            <a:ext cx="402336" cy="402336"/>
          </a:xfrm>
          <a:prstGeom prst="ellipse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89604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83864"/>
            <a:ext cx="9966960" cy="8138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02058"/>
                </a:solidFill>
                <a:latin typeface="Poppins"/>
              </a:rPr>
              <a:t>Integrate Uber's job feed with the Joveo platform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425696"/>
            <a:ext cx="11201400" cy="813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631436"/>
            <a:ext cx="402336" cy="402336"/>
          </a:xfrm>
          <a:prstGeom prst="ellipse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31436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425696"/>
            <a:ext cx="9966960" cy="8138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02058"/>
                </a:solidFill>
                <a:latin typeface="Poppins"/>
              </a:rPr>
              <a:t>Launch within 2 business weeks of feed integration — $2M over 1-3 months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367528"/>
            <a:ext cx="11201400" cy="813816"/>
          </a:xfrm>
          <a:prstGeom prst="roundRect">
            <a:avLst/>
          </a:prstGeom>
          <a:solidFill>
            <a:srgbClr val="F4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5573268"/>
            <a:ext cx="402336" cy="402336"/>
          </a:xfrm>
          <a:prstGeom prst="ellipse">
            <a:avLst/>
          </a:prstGeom>
          <a:solidFill>
            <a:srgbClr val="5A5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3268"/>
            <a:ext cx="402336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367528"/>
            <a:ext cx="9966960" cy="8138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02058"/>
                </a:solidFill>
                <a:latin typeface="Poppins"/>
              </a:rPr>
              <a:t>30-day review: CPA actuals, pipeline quality, Uber's scale-up recommendation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BE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556248"/>
            <a:ext cx="4114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6780"/>
                </a:solidFill>
                <a:latin typeface="Poppins"/>
              </a:rPr>
              <a:t>July 23,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6556248"/>
            <a:ext cx="6428232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B5CE"/>
                </a:solidFill>
                <a:latin typeface="Poppins"/>
              </a:rPr>
              <a:t>Created by Shubham Singh Chandel  •  Powered by Joveo's Global Supply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Nova AI Suite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2026.0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Recruitment Media Plan - Uber</dc:title>
  <dc:subject>AI-generated recruitment advertising media plan for Uber in the Hospitality &amp; Travel industry</dc:subject>
  <dc:creator>Nova AI Suite</dc:creator>
  <cp:keywords>recruitment media plan, Hospitality &amp; Travel, job advertising, programmatic recruitment, Uber, talent acquisition, hiring strategy</cp:keywords>
  <dc:description>Generated by Nova AI Media Plan Generator (media-plan-generator.onrender.com). Data sourced from 25 real-time APIs, 91+ job board platforms, and Nova AI Suite industry knowledge base.</dc:description>
  <cp:lastModifiedBy>Nova AI Suite</cp:lastModifiedBy>
  <cp:revision>1</cp:revision>
  <dcterms:created xsi:type="dcterms:W3CDTF">2026-07-23T20:55:37Z</dcterms:created>
  <dcterms:modified xsi:type="dcterms:W3CDTF">2026-07-23T20:55:37Z</dcterms:modified>
  <cp:category>Recruitment Advertising</cp:category>
</cp:coreProperties>
</file>